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artian Mono"/>
      <p:regular r:id="rId12"/>
      <p:bold r:id="rId13"/>
    </p:embeddedFont>
    <p:embeddedFont>
      <p:font typeface="Poppins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Lato Ligh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LatoLight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LatoLight-italic.fntdata"/><Relationship Id="rId23" Type="http://schemas.openxmlformats.org/officeDocument/2006/relationships/font" Target="fonts/Lato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artianMono-bold.fntdata"/><Relationship Id="rId12" Type="http://schemas.openxmlformats.org/officeDocument/2006/relationships/font" Target="fonts/MartianMono-regular.fntdata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378d073d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378d073d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378d073d2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378d073d2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378d073d2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378d073d2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378d073d2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378d073d2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378d073d2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378d073d2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1100">
                <a:latin typeface="Martian Mono"/>
                <a:ea typeface="Martian Mono"/>
                <a:cs typeface="Martian Mono"/>
                <a:sym typeface="Martian Mono"/>
              </a:defRPr>
            </a:lvl1pPr>
            <a:lvl2pPr lvl="1">
              <a:buNone/>
              <a:defRPr sz="1100">
                <a:latin typeface="Martian Mono"/>
                <a:ea typeface="Martian Mono"/>
                <a:cs typeface="Martian Mono"/>
                <a:sym typeface="Martian Mono"/>
              </a:defRPr>
            </a:lvl2pPr>
            <a:lvl3pPr lvl="2">
              <a:buNone/>
              <a:defRPr sz="1100">
                <a:latin typeface="Martian Mono"/>
                <a:ea typeface="Martian Mono"/>
                <a:cs typeface="Martian Mono"/>
                <a:sym typeface="Martian Mono"/>
              </a:defRPr>
            </a:lvl3pPr>
            <a:lvl4pPr lvl="3">
              <a:buNone/>
              <a:defRPr sz="1100">
                <a:latin typeface="Martian Mono"/>
                <a:ea typeface="Martian Mono"/>
                <a:cs typeface="Martian Mono"/>
                <a:sym typeface="Martian Mono"/>
              </a:defRPr>
            </a:lvl4pPr>
            <a:lvl5pPr lvl="4">
              <a:buNone/>
              <a:defRPr sz="1100">
                <a:latin typeface="Martian Mono"/>
                <a:ea typeface="Martian Mono"/>
                <a:cs typeface="Martian Mono"/>
                <a:sym typeface="Martian Mono"/>
              </a:defRPr>
            </a:lvl5pPr>
            <a:lvl6pPr lvl="5">
              <a:buNone/>
              <a:defRPr sz="1100">
                <a:latin typeface="Martian Mono"/>
                <a:ea typeface="Martian Mono"/>
                <a:cs typeface="Martian Mono"/>
                <a:sym typeface="Martian Mono"/>
              </a:defRPr>
            </a:lvl6pPr>
            <a:lvl7pPr lvl="6">
              <a:buNone/>
              <a:defRPr sz="1100">
                <a:latin typeface="Martian Mono"/>
                <a:ea typeface="Martian Mono"/>
                <a:cs typeface="Martian Mono"/>
                <a:sym typeface="Martian Mono"/>
              </a:defRPr>
            </a:lvl7pPr>
            <a:lvl8pPr lvl="7">
              <a:buNone/>
              <a:defRPr sz="1100">
                <a:latin typeface="Martian Mono"/>
                <a:ea typeface="Martian Mono"/>
                <a:cs typeface="Martian Mono"/>
                <a:sym typeface="Martian Mono"/>
              </a:defRPr>
            </a:lvl8pPr>
            <a:lvl9pPr lvl="8">
              <a:buNone/>
              <a:defRPr sz="1100">
                <a:latin typeface="Martian Mono"/>
                <a:ea typeface="Martian Mono"/>
                <a:cs typeface="Martian Mono"/>
                <a:sym typeface="Martian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162000" y="186750"/>
            <a:ext cx="8820000" cy="477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9454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latin typeface="Poppins"/>
                <a:ea typeface="Poppins"/>
                <a:cs typeface="Poppins"/>
                <a:sym typeface="Poppins"/>
              </a:rPr>
              <a:t>ESP32 </a:t>
            </a:r>
            <a:r>
              <a:rPr b="1" lang="ca">
                <a:latin typeface="Poppins"/>
                <a:ea typeface="Poppins"/>
                <a:cs typeface="Poppins"/>
                <a:sym typeface="Poppins"/>
              </a:rPr>
              <a:t>gyroscope</a:t>
            </a:r>
            <a:r>
              <a:rPr b="1" lang="ca">
                <a:latin typeface="Poppins"/>
                <a:ea typeface="Poppins"/>
                <a:cs typeface="Poppins"/>
                <a:sym typeface="Poppins"/>
              </a:rPr>
              <a:t> gesture recognition with edge AI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392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latin typeface="Lato Light"/>
                <a:ea typeface="Lato Light"/>
                <a:cs typeface="Lato Light"/>
                <a:sym typeface="Lato Light"/>
              </a:rPr>
              <a:t>Made by Marta Viñas and Mateu Magem</a:t>
            </a:r>
            <a:endParaRPr sz="1800"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Project workflow and structure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616" t="0"/>
          <a:stretch/>
        </p:blipFill>
        <p:spPr>
          <a:xfrm>
            <a:off x="1542325" y="1017725"/>
            <a:ext cx="602205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Challenges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655500" y="1017725"/>
            <a:ext cx="7833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ca" sz="2200"/>
              <a:t>Finding the right architecture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ca" sz="2200"/>
              <a:t>Tried CNNs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ca" sz="2200"/>
              <a:t>A feedforward neural network was a simpler approach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ca" sz="2200"/>
              <a:t>Preventing overfitting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ca" sz="2200"/>
              <a:t>Gesture simplicity vs. number of gesture data points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ca" sz="2200"/>
              <a:t>Selecting proper set of movements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ca" sz="2200"/>
              <a:t>Added “still” class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Model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2212650" y="1939750"/>
            <a:ext cx="4718700" cy="296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200"/>
              <a:t>Quantization</a:t>
            </a:r>
            <a:endParaRPr b="1"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ca" sz="2200"/>
              <a:t>Both </a:t>
            </a:r>
            <a:r>
              <a:rPr i="1" lang="ca" sz="2200"/>
              <a:t>float32</a:t>
            </a:r>
            <a:r>
              <a:rPr lang="ca" sz="2200"/>
              <a:t> and </a:t>
            </a:r>
            <a:r>
              <a:rPr i="1" lang="ca" sz="2200"/>
              <a:t>int8</a:t>
            </a:r>
            <a:r>
              <a:rPr lang="ca" sz="2200"/>
              <a:t> models are generated.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i="1" lang="ca" sz="2200"/>
              <a:t>float32</a:t>
            </a:r>
            <a:r>
              <a:rPr lang="ca" sz="2200"/>
              <a:t> is used since it is small </a:t>
            </a:r>
            <a:r>
              <a:rPr lang="ca" sz="2200"/>
              <a:t>enough</a:t>
            </a:r>
            <a:r>
              <a:rPr lang="ca" sz="2200"/>
              <a:t> to fit into memory</a:t>
            </a:r>
            <a:endParaRPr sz="2200"/>
          </a:p>
        </p:txBody>
      </p:sp>
      <p:pic>
        <p:nvPicPr>
          <p:cNvPr id="75" name="Google Shape;75;p16" title="model.tflite_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888" y="1017725"/>
            <a:ext cx="8158225" cy="92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Figur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400" y="589375"/>
            <a:ext cx="6707200" cy="434595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Data visualization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latin typeface="Poppins"/>
                <a:ea typeface="Poppins"/>
                <a:cs typeface="Poppins"/>
                <a:sym typeface="Poppins"/>
              </a:rPr>
              <a:t>Demonstration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